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Poppins" panose="00000500000000000000" pitchFamily="2" charset="0"/>
      <p:regular r:id="rId21"/>
    </p:embeddedFont>
    <p:embeddedFont>
      <p:font typeface="Poppins Bold" panose="020B0604020202020204" charset="0"/>
      <p:regular r:id="rId22"/>
    </p:embeddedFont>
    <p:embeddedFont>
      <p:font typeface="Poppins Semi-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22" autoAdjust="0"/>
  </p:normalViewPr>
  <p:slideViewPr>
    <p:cSldViewPr>
      <p:cViewPr varScale="1">
        <p:scale>
          <a:sx n="55" d="100"/>
          <a:sy n="55" d="100"/>
        </p:scale>
        <p:origin x="1096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028785"/>
            <a:ext cx="3096739" cy="372826"/>
            <a:chOff x="0" y="0"/>
            <a:chExt cx="815602" cy="981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602" cy="98193"/>
            </a:xfrm>
            <a:custGeom>
              <a:avLst/>
              <a:gdLst/>
              <a:ahLst/>
              <a:cxnLst/>
              <a:rect l="l" t="t" r="r" b="b"/>
              <a:pathLst>
                <a:path w="815602" h="98193">
                  <a:moveTo>
                    <a:pt x="49096" y="0"/>
                  </a:moveTo>
                  <a:lnTo>
                    <a:pt x="766506" y="0"/>
                  </a:lnTo>
                  <a:cubicBezTo>
                    <a:pt x="779527" y="0"/>
                    <a:pt x="792015" y="5173"/>
                    <a:pt x="801222" y="14380"/>
                  </a:cubicBezTo>
                  <a:cubicBezTo>
                    <a:pt x="810430" y="23587"/>
                    <a:pt x="815602" y="36075"/>
                    <a:pt x="815602" y="49096"/>
                  </a:cubicBezTo>
                  <a:lnTo>
                    <a:pt x="815602" y="49096"/>
                  </a:lnTo>
                  <a:cubicBezTo>
                    <a:pt x="815602" y="76212"/>
                    <a:pt x="793621" y="98193"/>
                    <a:pt x="766506" y="98193"/>
                  </a:cubicBezTo>
                  <a:lnTo>
                    <a:pt x="49096" y="98193"/>
                  </a:lnTo>
                  <a:cubicBezTo>
                    <a:pt x="36075" y="98193"/>
                    <a:pt x="23587" y="93020"/>
                    <a:pt x="14380" y="83813"/>
                  </a:cubicBezTo>
                  <a:cubicBezTo>
                    <a:pt x="5173" y="74606"/>
                    <a:pt x="0" y="62118"/>
                    <a:pt x="0" y="49096"/>
                  </a:cubicBezTo>
                  <a:lnTo>
                    <a:pt x="0" y="49096"/>
                  </a:lnTo>
                  <a:cubicBezTo>
                    <a:pt x="0" y="36075"/>
                    <a:pt x="5173" y="23587"/>
                    <a:pt x="14380" y="14380"/>
                  </a:cubicBezTo>
                  <a:cubicBezTo>
                    <a:pt x="23587" y="5173"/>
                    <a:pt x="36075" y="0"/>
                    <a:pt x="4909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5602" cy="136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8"/>
                </a:lnSpc>
              </a:pPr>
              <a:r>
                <a:rPr lang="en-US" sz="12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"/>
                  <a:ea typeface="Poppins"/>
                  <a:cs typeface="Poppins"/>
                  <a:sym typeface="Poppins"/>
                </a:rPr>
                <a:t>Date: May 17,2025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047750"/>
            <a:ext cx="10028303" cy="23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NOVAMED SOLUTIONS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283415" y="2819743"/>
            <a:ext cx="470916" cy="4709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6569985"/>
            <a:ext cx="5460787" cy="273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979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Company: 10nalytics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410891"/>
            <a:ext cx="6193479" cy="49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91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Presented by: Opeyemi Olaniran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366516"/>
            <a:ext cx="8875966" cy="498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291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Sales Performance Analysis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36976" y="254127"/>
            <a:ext cx="5404063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519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5015" y="1395700"/>
            <a:ext cx="16230600" cy="801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7"/>
              </a:lnSpc>
            </a:pPr>
            <a:r>
              <a:rPr lang="en-US" sz="379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NovaMed Solutions is a leading </a:t>
            </a:r>
            <a:r>
              <a:rPr lang="en-US" sz="379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pharmaceutical distributor</a:t>
            </a:r>
            <a:r>
              <a:rPr lang="en-US" sz="379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serving a diverse healthcare sector, ensuring the availability of </a:t>
            </a:r>
            <a:r>
              <a:rPr lang="en-US" sz="379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essential medications</a:t>
            </a:r>
            <a:r>
              <a:rPr lang="en-US" sz="379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5307"/>
              </a:lnSpc>
            </a:pPr>
            <a:r>
              <a:rPr lang="en-US" sz="379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However,  inefficiencies in demand forecasting, stock management, and customer engagement strategies have impacted operational effectiveness.</a:t>
            </a:r>
          </a:p>
          <a:p>
            <a:pPr algn="l">
              <a:lnSpc>
                <a:spcPts val="5307"/>
              </a:lnSpc>
            </a:pPr>
            <a:r>
              <a:rPr lang="en-US" sz="379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 the past year, NovaMed Solutions has collected comprehensive sales data, including revenue, profit margins, drug performance, and customer demographics. This dataset provides a valuable opportunity for in depth analysis, trend identification, and data driven decision making to enhance business strategies and streamline operations.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722903" y="2916207"/>
            <a:ext cx="1445449" cy="1445449"/>
            <a:chOff x="0" y="0"/>
            <a:chExt cx="1927266" cy="1927266"/>
          </a:xfrm>
        </p:grpSpPr>
        <p:grpSp>
          <p:nvGrpSpPr>
            <p:cNvPr id="12" name="Group 12"/>
            <p:cNvGrpSpPr/>
            <p:nvPr/>
          </p:nvGrpSpPr>
          <p:grpSpPr>
            <a:xfrm rot="4098715">
              <a:off x="221671" y="221671"/>
              <a:ext cx="1483924" cy="1483924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4365" tIns="4365" rIns="4365" bIns="4365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10800000">
              <a:off x="221671" y="221671"/>
              <a:ext cx="1483924" cy="1483924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4365" tIns="4365" rIns="4365" bIns="4365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 rot="9001832">
            <a:off x="13181872" y="5407894"/>
            <a:ext cx="1445449" cy="1445449"/>
            <a:chOff x="0" y="0"/>
            <a:chExt cx="1927266" cy="1927266"/>
          </a:xfrm>
        </p:grpSpPr>
        <p:grpSp>
          <p:nvGrpSpPr>
            <p:cNvPr id="19" name="Group 19"/>
            <p:cNvGrpSpPr/>
            <p:nvPr/>
          </p:nvGrpSpPr>
          <p:grpSpPr>
            <a:xfrm rot="4098715">
              <a:off x="221671" y="221671"/>
              <a:ext cx="1483924" cy="1483924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4365" tIns="4365" rIns="4365" bIns="4365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10800000">
              <a:off x="221671" y="221671"/>
              <a:ext cx="1483924" cy="1483924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4365" tIns="4365" rIns="4365" bIns="4365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-18809"/>
            <a:ext cx="1524000" cy="1428509"/>
            <a:chOff x="0" y="0"/>
            <a:chExt cx="452118" cy="851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2118" cy="851978"/>
            </a:xfrm>
            <a:custGeom>
              <a:avLst/>
              <a:gdLst/>
              <a:ahLst/>
              <a:cxnLst/>
              <a:rect l="l" t="t" r="r" b="b"/>
              <a:pathLst>
                <a:path w="452118" h="851978">
                  <a:moveTo>
                    <a:pt x="226059" y="0"/>
                  </a:moveTo>
                  <a:cubicBezTo>
                    <a:pt x="101210" y="0"/>
                    <a:pt x="0" y="190722"/>
                    <a:pt x="0" y="425989"/>
                  </a:cubicBezTo>
                  <a:cubicBezTo>
                    <a:pt x="0" y="661256"/>
                    <a:pt x="101210" y="851978"/>
                    <a:pt x="226059" y="851978"/>
                  </a:cubicBezTo>
                  <a:cubicBezTo>
                    <a:pt x="350908" y="851978"/>
                    <a:pt x="452118" y="661256"/>
                    <a:pt x="452118" y="425989"/>
                  </a:cubicBezTo>
                  <a:cubicBezTo>
                    <a:pt x="452118" y="190722"/>
                    <a:pt x="350908" y="0"/>
                    <a:pt x="226059" y="0"/>
                  </a:cubicBezTo>
                  <a:close/>
                </a:path>
              </a:pathLst>
            </a:custGeom>
            <a:blipFill>
              <a:blip r:embed="rId2"/>
              <a:stretch>
                <a:fillRect l="-114219" r="-1142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249141" y="415472"/>
            <a:ext cx="6850055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MARKET TRENDS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09800" y="1409700"/>
            <a:ext cx="13522443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2800" dirty="0" err="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NovaMed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Solutions has made remarkable growth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over the last 5 years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across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six countries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three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continents 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including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Canada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USA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Australia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France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UK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Germany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/>
            <a:endParaRPr lang="en-US" sz="2800" dirty="0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/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was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$71.31M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– with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4.22% YoY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$68.42M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from the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previous year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 However, the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highest monthly revenue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was in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July 2023- $5.80M.</a:t>
            </a:r>
          </a:p>
          <a:p>
            <a:pPr algn="l"/>
            <a:endParaRPr lang="en-US" sz="2800" b="1" dirty="0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/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quantity sold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was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260,472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with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4.20% YoY increase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258,616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from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previous year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/>
            <a:endParaRPr lang="en-US" sz="2800" b="1" dirty="0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/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Profit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made was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$58.45M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with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4.28% YoY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profit margin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81.97%.</a:t>
            </a:r>
          </a:p>
          <a:p>
            <a:pPr algn="l"/>
            <a:endParaRPr lang="en-US" sz="2800" b="1" dirty="0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/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Expenses 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was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$12.85M 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with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3.91% YoY increase 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and a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previous expenses 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-US" sz="2800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$12.37M</a:t>
            </a:r>
            <a:r>
              <a:rPr lang="en-US" sz="2800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 rot="-6701284">
            <a:off x="15768081" y="379995"/>
            <a:ext cx="1297410" cy="129741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gradFill>
                <a:gsLst>
                  <a:gs pos="0">
                    <a:srgbClr val="2ABACA">
                      <a:alpha val="10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8" tIns="5088" rIns="5088" bIns="5088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8485" y="1028700"/>
            <a:ext cx="18009515" cy="9127238"/>
          </a:xfrm>
          <a:custGeom>
            <a:avLst/>
            <a:gdLst/>
            <a:ahLst/>
            <a:cxnLst/>
            <a:rect l="l" t="t" r="r" b="b"/>
            <a:pathLst>
              <a:path w="18009515" h="9127238">
                <a:moveTo>
                  <a:pt x="0" y="0"/>
                </a:moveTo>
                <a:lnTo>
                  <a:pt x="18009515" y="0"/>
                </a:lnTo>
                <a:lnTo>
                  <a:pt x="18009515" y="9127238"/>
                </a:lnTo>
                <a:lnTo>
                  <a:pt x="0" y="912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60" r="-1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858215" y="254127"/>
            <a:ext cx="6850055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MARKET TRENDS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251642" y="5469080"/>
            <a:ext cx="9007658" cy="4251966"/>
          </a:xfrm>
          <a:custGeom>
            <a:avLst/>
            <a:gdLst/>
            <a:ahLst/>
            <a:cxnLst/>
            <a:rect l="l" t="t" r="r" b="b"/>
            <a:pathLst>
              <a:path w="9007658" h="4251966">
                <a:moveTo>
                  <a:pt x="0" y="0"/>
                </a:moveTo>
                <a:lnTo>
                  <a:pt x="9007658" y="0"/>
                </a:lnTo>
                <a:lnTo>
                  <a:pt x="9007658" y="4251966"/>
                </a:lnTo>
                <a:lnTo>
                  <a:pt x="0" y="425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2761" y="1028700"/>
            <a:ext cx="9106242" cy="4440380"/>
          </a:xfrm>
          <a:custGeom>
            <a:avLst/>
            <a:gdLst/>
            <a:ahLst/>
            <a:cxnLst/>
            <a:rect l="l" t="t" r="r" b="b"/>
            <a:pathLst>
              <a:path w="9106242" h="4440380">
                <a:moveTo>
                  <a:pt x="0" y="0"/>
                </a:moveTo>
                <a:lnTo>
                  <a:pt x="9106242" y="0"/>
                </a:lnTo>
                <a:lnTo>
                  <a:pt x="9106242" y="4440380"/>
                </a:lnTo>
                <a:lnTo>
                  <a:pt x="0" y="4440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110135" y="102346"/>
            <a:ext cx="7033865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SALES TREND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062009"/>
            <a:ext cx="6897458" cy="3070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highest sales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was in the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year 2023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yielding a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 of $61.68M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with a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1960.63% YoY increase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profit of $50.52M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with a </a:t>
            </a:r>
            <a:r>
              <a:rPr lang="en-US" sz="24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1948.96% YoY increase</a:t>
            </a:r>
            <a:r>
              <a:rPr lang="en-US" sz="24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 However, the total expenses was $11.16M compared to that of the previous year-$527, 800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57774" y="952500"/>
            <a:ext cx="6527465" cy="334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27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Overall, </a:t>
            </a:r>
            <a:r>
              <a:rPr lang="en-US" sz="27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the highest profit and revenue</a:t>
            </a:r>
            <a:r>
              <a:rPr lang="en-US" sz="27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was in the month of </a:t>
            </a:r>
            <a:r>
              <a:rPr lang="en-US" sz="27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January </a:t>
            </a:r>
            <a:r>
              <a:rPr lang="en-US" sz="27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the total quantity sold of about 24,000. This yielded a </a:t>
            </a:r>
            <a:r>
              <a:rPr lang="en-US" sz="27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 of $6.84M</a:t>
            </a:r>
            <a:r>
              <a:rPr lang="en-US" sz="27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</a:t>
            </a:r>
            <a:r>
              <a:rPr lang="en-US" sz="27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profit of $5.63M</a:t>
            </a:r>
            <a:r>
              <a:rPr lang="en-US" sz="27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331"/>
              </a:lnSpc>
            </a:pPr>
            <a:endParaRPr lang="en-US" sz="2779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9111" y="6388969"/>
            <a:ext cx="7612408" cy="3600714"/>
          </a:xfrm>
          <a:custGeom>
            <a:avLst/>
            <a:gdLst/>
            <a:ahLst/>
            <a:cxnLst/>
            <a:rect l="l" t="t" r="r" b="b"/>
            <a:pathLst>
              <a:path w="7612408" h="3600714">
                <a:moveTo>
                  <a:pt x="0" y="0"/>
                </a:moveTo>
                <a:lnTo>
                  <a:pt x="7612409" y="0"/>
                </a:lnTo>
                <a:lnTo>
                  <a:pt x="7612409" y="3600714"/>
                </a:lnTo>
                <a:lnTo>
                  <a:pt x="0" y="3600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01" t="-380" b="-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534787" y="971890"/>
            <a:ext cx="9239404" cy="2315124"/>
          </a:xfrm>
          <a:custGeom>
            <a:avLst/>
            <a:gdLst/>
            <a:ahLst/>
            <a:cxnLst/>
            <a:rect l="l" t="t" r="r" b="b"/>
            <a:pathLst>
              <a:path w="9239404" h="2315124">
                <a:moveTo>
                  <a:pt x="0" y="0"/>
                </a:moveTo>
                <a:lnTo>
                  <a:pt x="9239404" y="0"/>
                </a:lnTo>
                <a:lnTo>
                  <a:pt x="9239404" y="2315124"/>
                </a:lnTo>
                <a:lnTo>
                  <a:pt x="0" y="2315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7" b="-925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534787" y="3574803"/>
            <a:ext cx="9239404" cy="2265210"/>
          </a:xfrm>
          <a:custGeom>
            <a:avLst/>
            <a:gdLst/>
            <a:ahLst/>
            <a:cxnLst/>
            <a:rect l="l" t="t" r="r" b="b"/>
            <a:pathLst>
              <a:path w="9239404" h="2265210">
                <a:moveTo>
                  <a:pt x="0" y="0"/>
                </a:moveTo>
                <a:lnTo>
                  <a:pt x="9239404" y="0"/>
                </a:lnTo>
                <a:lnTo>
                  <a:pt x="9239404" y="2265211"/>
                </a:lnTo>
                <a:lnTo>
                  <a:pt x="0" y="2265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500922" y="106809"/>
            <a:ext cx="7033865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SALES TREND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"/>
            <a:ext cx="6897458" cy="4583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In the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year 2024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there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was a significant decline in the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 of $3.32M 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a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94.62% YoY decrease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profit of $2.73M 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a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94.60% YoY decrease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>
              <a:lnSpc>
                <a:spcPts val="3051"/>
              </a:lnSpc>
            </a:pP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In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2025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the company also experienced a decline in the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profit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with a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13.40% YoY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decrease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 </a:t>
            </a:r>
            <a:r>
              <a:rPr lang="en-US" sz="2179" b="1" dirty="0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13.42% YoY decrease</a:t>
            </a: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respectively. This could be due to reduction in demand and supply of products.</a:t>
            </a:r>
          </a:p>
          <a:p>
            <a:pPr algn="l">
              <a:lnSpc>
                <a:spcPts val="3051"/>
              </a:lnSpc>
            </a:pPr>
            <a:r>
              <a:rPr lang="en-US" sz="2179" dirty="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There was limited data availability for the year 2026, therefore analysis compared to the previous is limited.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34787" y="6475717"/>
            <a:ext cx="7401650" cy="194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Overall, </a:t>
            </a:r>
            <a:r>
              <a:rPr lang="en-US" sz="22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the lowest profit and revenue</a:t>
            </a:r>
            <a:r>
              <a:rPr lang="en-US" sz="22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was in the month of </a:t>
            </a:r>
            <a:r>
              <a:rPr lang="en-US" sz="22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February </a:t>
            </a:r>
            <a:r>
              <a:rPr lang="en-US" sz="22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the total quantity sold of about 19,000. This yielded a </a:t>
            </a:r>
            <a:r>
              <a:rPr lang="en-US" sz="22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 of $4.99M</a:t>
            </a:r>
            <a:r>
              <a:rPr lang="en-US" sz="22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a</a:t>
            </a:r>
            <a:r>
              <a:rPr lang="en-US" sz="22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profit of $4.09M</a:t>
            </a:r>
            <a:r>
              <a:rPr lang="en-US" sz="22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2632"/>
              </a:lnSpc>
            </a:pPr>
            <a:endParaRPr lang="en-US" sz="2279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56750" y="383493"/>
            <a:ext cx="805100" cy="876108"/>
          </a:xfrm>
          <a:custGeom>
            <a:avLst/>
            <a:gdLst/>
            <a:ahLst/>
            <a:cxnLst/>
            <a:rect l="l" t="t" r="r" b="b"/>
            <a:pathLst>
              <a:path w="805100" h="876108">
                <a:moveTo>
                  <a:pt x="0" y="0"/>
                </a:moveTo>
                <a:lnTo>
                  <a:pt x="805100" y="0"/>
                </a:lnTo>
                <a:lnTo>
                  <a:pt x="805100" y="876108"/>
                </a:lnTo>
                <a:lnTo>
                  <a:pt x="0" y="876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206903"/>
            <a:ext cx="8115300" cy="5392453"/>
          </a:xfrm>
          <a:custGeom>
            <a:avLst/>
            <a:gdLst/>
            <a:ahLst/>
            <a:cxnLst/>
            <a:rect l="l" t="t" r="r" b="b"/>
            <a:pathLst>
              <a:path w="8115300" h="5392453">
                <a:moveTo>
                  <a:pt x="0" y="0"/>
                </a:moveTo>
                <a:lnTo>
                  <a:pt x="8115300" y="0"/>
                </a:lnTo>
                <a:lnTo>
                  <a:pt x="8115300" y="5392453"/>
                </a:lnTo>
                <a:lnTo>
                  <a:pt x="0" y="539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59" b="-31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483488" y="2206903"/>
            <a:ext cx="7986807" cy="5392453"/>
          </a:xfrm>
          <a:custGeom>
            <a:avLst/>
            <a:gdLst/>
            <a:ahLst/>
            <a:cxnLst/>
            <a:rect l="l" t="t" r="r" b="b"/>
            <a:pathLst>
              <a:path w="7986807" h="5392453">
                <a:moveTo>
                  <a:pt x="0" y="0"/>
                </a:moveTo>
                <a:lnTo>
                  <a:pt x="7986807" y="0"/>
                </a:lnTo>
                <a:lnTo>
                  <a:pt x="7986807" y="5392453"/>
                </a:lnTo>
                <a:lnTo>
                  <a:pt x="0" y="5392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52" b="-3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29875" y="524652"/>
            <a:ext cx="15170166" cy="147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Top | Bottom 5 Customers by Revenue, Profit and quantity sold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808906"/>
            <a:ext cx="8115300" cy="19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87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Bob Williams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the 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ID 191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is the top performing customer. In five years, he sold a total of 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2,442 products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which generated a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total revenue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$803,622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and a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total profit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$639,191.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83488" y="7808906"/>
            <a:ext cx="7986807" cy="198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87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Alice Williams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with the 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ID 90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is the lowest performing customer. She sold a total of 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311 products,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generating a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total revenue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$86,502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and a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total profit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</a:t>
            </a:r>
            <a:r>
              <a:rPr lang="en-US" sz="28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$69,103 </a:t>
            </a:r>
            <a:r>
              <a:rPr lang="en-US" sz="28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 5 years.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8080" y="1254500"/>
            <a:ext cx="15741220" cy="6106172"/>
          </a:xfrm>
          <a:custGeom>
            <a:avLst/>
            <a:gdLst/>
            <a:ahLst/>
            <a:cxnLst/>
            <a:rect l="l" t="t" r="r" b="b"/>
            <a:pathLst>
              <a:path w="15741220" h="6106172">
                <a:moveTo>
                  <a:pt x="0" y="0"/>
                </a:moveTo>
                <a:lnTo>
                  <a:pt x="15741220" y="0"/>
                </a:lnTo>
                <a:lnTo>
                  <a:pt x="15741220" y="6106171"/>
                </a:lnTo>
                <a:lnTo>
                  <a:pt x="0" y="610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4" t="-1248" b="-92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167949" y="401193"/>
            <a:ext cx="13445626" cy="62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3"/>
              </a:lnSpc>
            </a:pPr>
            <a:r>
              <a:rPr lang="en-US" sz="4299" b="1">
                <a:solidFill>
                  <a:srgbClr val="231F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Top | Bottom 5 Drugs by Revenue and Profit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8080" y="7661834"/>
            <a:ext cx="7732366" cy="256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67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Doxycycline 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is the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topmost performing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drug generating a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revenue 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$3.53M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4.95%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) and a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profit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$3.36M (5.75%)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with a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low cost of production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about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$173,000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 However,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Lisinopril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is the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best selling drug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with about </a:t>
            </a:r>
            <a:r>
              <a:rPr lang="en-US" sz="26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11,000 quantity sold </a:t>
            </a:r>
            <a:r>
              <a:rPr lang="en-US" sz="26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 five years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26934" y="7652309"/>
            <a:ext cx="7681347" cy="2641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731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Montelukast 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is the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least performing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drug in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total profit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$32,900(0.06%)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with a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high cost of production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$362,110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compared to the 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generated-</a:t>
            </a:r>
            <a:r>
              <a:rPr lang="en-US" sz="273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$395,080(0.55%)</a:t>
            </a:r>
          </a:p>
          <a:p>
            <a:pPr algn="l">
              <a:lnSpc>
                <a:spcPts val="2950"/>
              </a:lnSpc>
            </a:pP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Although</a:t>
            </a:r>
            <a:r>
              <a:rPr lang="en-US" sz="2731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, Warfarin </a:t>
            </a:r>
            <a:r>
              <a:rPr lang="en-US" sz="273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ranks the lowest in</a:t>
            </a:r>
            <a:r>
              <a:rPr lang="en-US" sz="2731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total revenue of $229,249 (0.32%)</a:t>
            </a:r>
          </a:p>
          <a:p>
            <a:pPr algn="l">
              <a:lnSpc>
                <a:spcPts val="2950"/>
              </a:lnSpc>
            </a:pPr>
            <a:endParaRPr lang="en-US" sz="2731" b="1">
              <a:solidFill>
                <a:srgbClr val="2D2D2D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1498" y="1375863"/>
            <a:ext cx="5742377" cy="5226563"/>
          </a:xfrm>
          <a:custGeom>
            <a:avLst/>
            <a:gdLst/>
            <a:ahLst/>
            <a:cxnLst/>
            <a:rect l="l" t="t" r="r" b="b"/>
            <a:pathLst>
              <a:path w="5742377" h="5226563">
                <a:moveTo>
                  <a:pt x="0" y="0"/>
                </a:moveTo>
                <a:lnTo>
                  <a:pt x="5742377" y="0"/>
                </a:lnTo>
                <a:lnTo>
                  <a:pt x="5742377" y="5226563"/>
                </a:lnTo>
                <a:lnTo>
                  <a:pt x="0" y="5226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91" r="-16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209698" y="4916787"/>
            <a:ext cx="5874003" cy="5208859"/>
          </a:xfrm>
          <a:custGeom>
            <a:avLst/>
            <a:gdLst/>
            <a:ahLst/>
            <a:cxnLst/>
            <a:rect l="l" t="t" r="r" b="b"/>
            <a:pathLst>
              <a:path w="5874003" h="5208859">
                <a:moveTo>
                  <a:pt x="0" y="0"/>
                </a:moveTo>
                <a:lnTo>
                  <a:pt x="5874003" y="0"/>
                </a:lnTo>
                <a:lnTo>
                  <a:pt x="5874003" y="5208859"/>
                </a:lnTo>
                <a:lnTo>
                  <a:pt x="0" y="5208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083701" y="1194507"/>
            <a:ext cx="6012832" cy="5284378"/>
          </a:xfrm>
          <a:custGeom>
            <a:avLst/>
            <a:gdLst/>
            <a:ahLst/>
            <a:cxnLst/>
            <a:rect l="l" t="t" r="r" b="b"/>
            <a:pathLst>
              <a:path w="6012832" h="5284378">
                <a:moveTo>
                  <a:pt x="0" y="0"/>
                </a:moveTo>
                <a:lnTo>
                  <a:pt x="6012832" y="0"/>
                </a:lnTo>
                <a:lnTo>
                  <a:pt x="6012832" y="5284378"/>
                </a:lnTo>
                <a:lnTo>
                  <a:pt x="0" y="5284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32128" y="278963"/>
            <a:ext cx="6850055" cy="915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3200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Streams from Doxycycline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66279" y="3742258"/>
            <a:ext cx="6339410" cy="8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3100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Streams from Warfarin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57123" y="143255"/>
            <a:ext cx="6339410" cy="88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3100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Streams from Montelukast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699342"/>
            <a:ext cx="16230600" cy="794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1.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Take advantage of Peak Sales Periods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-Identify months with consistently high sales and align marketing campaigns to coincide with those periods.</a:t>
            </a:r>
          </a:p>
          <a:p>
            <a:pPr algn="l">
              <a:lnSpc>
                <a:spcPts val="3450"/>
              </a:lnSpc>
            </a:pPr>
            <a:endParaRPr lang="en-US" sz="2464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Investigate the decline in sales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-Analyze periods of declining sales to determine root causes (e.g., seasonality, inventory issues, pricing changes) and develop mitigation plans or replicate strategies from high-performing months.</a:t>
            </a:r>
          </a:p>
          <a:p>
            <a:pPr algn="l">
              <a:lnSpc>
                <a:spcPts val="3450"/>
              </a:lnSpc>
            </a:pPr>
            <a:endParaRPr lang="en-US" sz="2464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Top performing drugs 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invest more on top performing drugs like Doxycycline and Lisinopril to maximize profit in top performing locations.</a:t>
            </a:r>
          </a:p>
          <a:p>
            <a:pPr algn="l">
              <a:lnSpc>
                <a:spcPts val="3450"/>
              </a:lnSpc>
            </a:pPr>
            <a:endParaRPr lang="en-US" sz="2464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4.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Strengthen underperforming drugs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consider promotions and discounts for drugs like Warfarin and Montelukast</a:t>
            </a:r>
          </a:p>
          <a:p>
            <a:pPr algn="l">
              <a:lnSpc>
                <a:spcPts val="3450"/>
              </a:lnSpc>
            </a:pPr>
            <a:endParaRPr lang="en-US" sz="2464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Leverage- 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Strengthen partnerships with high-performing customer and offer incentives to encourage the low-tier ones.</a:t>
            </a:r>
          </a:p>
          <a:p>
            <a:pPr algn="l">
              <a:lnSpc>
                <a:spcPts val="3870"/>
              </a:lnSpc>
            </a:pPr>
            <a:endParaRPr lang="en-US" sz="2464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450"/>
              </a:lnSpc>
            </a:pP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6. </a:t>
            </a:r>
            <a:r>
              <a:rPr lang="en-US" sz="246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Inventory management</a:t>
            </a:r>
            <a:r>
              <a:rPr lang="en-US" sz="246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ensure the inventory count aligns with the sales trend to prevent overstocking or understocking during peak sales periods.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0" y="152502"/>
            <a:ext cx="992525" cy="974479"/>
          </a:xfrm>
          <a:custGeom>
            <a:avLst/>
            <a:gdLst/>
            <a:ahLst/>
            <a:cxnLst/>
            <a:rect l="l" t="t" r="r" b="b"/>
            <a:pathLst>
              <a:path w="992525" h="974479">
                <a:moveTo>
                  <a:pt x="0" y="0"/>
                </a:moveTo>
                <a:lnTo>
                  <a:pt x="992525" y="0"/>
                </a:lnTo>
                <a:lnTo>
                  <a:pt x="992525" y="974479"/>
                </a:lnTo>
                <a:lnTo>
                  <a:pt x="0" y="97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25346" y="513505"/>
            <a:ext cx="7255655" cy="77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945145">
            <a:off x="14739248" y="7131075"/>
            <a:ext cx="1992976" cy="1992976"/>
            <a:chOff x="0" y="0"/>
            <a:chExt cx="2657302" cy="2657302"/>
          </a:xfrm>
        </p:grpSpPr>
        <p:grpSp>
          <p:nvGrpSpPr>
            <p:cNvPr id="3" name="Group 3"/>
            <p:cNvGrpSpPr/>
            <p:nvPr/>
          </p:nvGrpSpPr>
          <p:grpSpPr>
            <a:xfrm rot="-6701284">
              <a:off x="305638" y="305638"/>
              <a:ext cx="2046025" cy="2046025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05638" y="305638"/>
              <a:ext cx="2046025" cy="2046025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5898201" y="1690131"/>
            <a:ext cx="11993099" cy="6836797"/>
          </a:xfrm>
          <a:custGeom>
            <a:avLst/>
            <a:gdLst/>
            <a:ahLst/>
            <a:cxnLst/>
            <a:rect l="l" t="t" r="r" b="b"/>
            <a:pathLst>
              <a:path w="11993099" h="6836797">
                <a:moveTo>
                  <a:pt x="0" y="0"/>
                </a:moveTo>
                <a:lnTo>
                  <a:pt x="11993099" y="0"/>
                </a:lnTo>
                <a:lnTo>
                  <a:pt x="11993099" y="6836798"/>
                </a:lnTo>
                <a:lnTo>
                  <a:pt x="0" y="6836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84" r="-924" b="-3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028700" y="482864"/>
            <a:ext cx="7227589" cy="69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613931"/>
            <a:ext cx="4591004" cy="8065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6"/>
              </a:lnSpc>
            </a:pP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NovaMed Solutions had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200 customers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three customer types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Frequent, Preferred and New customers,  across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six countries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in five years.</a:t>
            </a:r>
          </a:p>
          <a:p>
            <a:pPr algn="l">
              <a:lnSpc>
                <a:spcPts val="3796"/>
              </a:lnSpc>
            </a:pPr>
            <a:endParaRPr lang="en-US" sz="2711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96"/>
              </a:lnSpc>
            </a:pP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66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the total customers were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frequent buyers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67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are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new customers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67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are 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preferred customers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796"/>
              </a:lnSpc>
            </a:pPr>
            <a:endParaRPr lang="en-US" sz="2711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96"/>
              </a:lnSpc>
            </a:pP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revenue</a:t>
            </a:r>
            <a:r>
              <a:rPr lang="en-US" sz="2711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per customer type was $</a:t>
            </a:r>
            <a:r>
              <a:rPr lang="en-US" sz="2711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20.95M.</a:t>
            </a:r>
          </a:p>
          <a:p>
            <a:pPr algn="l">
              <a:lnSpc>
                <a:spcPts val="1696"/>
              </a:lnSpc>
            </a:pPr>
            <a:endParaRPr lang="en-US" sz="2711" b="1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1696"/>
              </a:lnSpc>
            </a:pPr>
            <a:endParaRPr lang="en-US" sz="2711" b="1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03753" y="1623826"/>
            <a:ext cx="8098937" cy="3519674"/>
          </a:xfrm>
          <a:custGeom>
            <a:avLst/>
            <a:gdLst/>
            <a:ahLst/>
            <a:cxnLst/>
            <a:rect l="l" t="t" r="r" b="b"/>
            <a:pathLst>
              <a:path w="8098937" h="3519674">
                <a:moveTo>
                  <a:pt x="0" y="0"/>
                </a:moveTo>
                <a:lnTo>
                  <a:pt x="8098937" y="0"/>
                </a:lnTo>
                <a:lnTo>
                  <a:pt x="8098937" y="3519674"/>
                </a:lnTo>
                <a:lnTo>
                  <a:pt x="0" y="3519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49" r="-206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403753" y="5325969"/>
            <a:ext cx="8098937" cy="3909792"/>
          </a:xfrm>
          <a:custGeom>
            <a:avLst/>
            <a:gdLst/>
            <a:ahLst/>
            <a:cxnLst/>
            <a:rect l="l" t="t" r="r" b="b"/>
            <a:pathLst>
              <a:path w="8098937" h="3909792">
                <a:moveTo>
                  <a:pt x="0" y="0"/>
                </a:moveTo>
                <a:lnTo>
                  <a:pt x="8098937" y="0"/>
                </a:lnTo>
                <a:lnTo>
                  <a:pt x="8098937" y="3909792"/>
                </a:lnTo>
                <a:lnTo>
                  <a:pt x="0" y="3909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98" r="-22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215874" y="144403"/>
            <a:ext cx="11897821" cy="69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BY GENDER | AGE GROUP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698" y="1547626"/>
            <a:ext cx="7142529" cy="810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8"/>
              </a:lnSpc>
            </a:pP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94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out of the 200 customers were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Males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accounting for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47%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the customer base, and 65 were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Females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(32.5%)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the rest were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other gender identities(20.5%).</a:t>
            </a:r>
          </a:p>
          <a:p>
            <a:pPr algn="l">
              <a:lnSpc>
                <a:spcPts val="3788"/>
              </a:lnSpc>
            </a:pPr>
            <a:endParaRPr lang="en-US" sz="2706" b="1">
              <a:solidFill>
                <a:srgbClr val="2D2D2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88"/>
              </a:lnSpc>
            </a:pP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customers were grouped into 4 age groups-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Young adult 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(18-29),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Adult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(30-44),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Middle aged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(45-59) and the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Elderly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(60+).</a:t>
            </a:r>
          </a:p>
          <a:p>
            <a:pPr algn="l">
              <a:lnSpc>
                <a:spcPts val="3788"/>
              </a:lnSpc>
            </a:pPr>
            <a:endParaRPr lang="en-US" sz="2706">
              <a:solidFill>
                <a:srgbClr val="2D2D2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88"/>
              </a:lnSpc>
            </a:pP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The Elderly (60+)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age group accounted for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31.5% (63 customers)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the total customers, of which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16% (32 customers)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were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male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 The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least </a:t>
            </a:r>
            <a:r>
              <a:rPr lang="en-US" sz="270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number of customers were the </a:t>
            </a:r>
            <a:r>
              <a:rPr lang="en-US" sz="2706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Young adult- 31 customers(15.5%)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64632" y="6082504"/>
            <a:ext cx="4894757" cy="3677620"/>
          </a:xfrm>
          <a:custGeom>
            <a:avLst/>
            <a:gdLst/>
            <a:ahLst/>
            <a:cxnLst/>
            <a:rect l="l" t="t" r="r" b="b"/>
            <a:pathLst>
              <a:path w="4894757" h="3677620">
                <a:moveTo>
                  <a:pt x="0" y="0"/>
                </a:moveTo>
                <a:lnTo>
                  <a:pt x="4894758" y="0"/>
                </a:lnTo>
                <a:lnTo>
                  <a:pt x="4894758" y="3677620"/>
                </a:lnTo>
                <a:lnTo>
                  <a:pt x="0" y="3677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88" r="-59869" b="-193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0888" y="918976"/>
            <a:ext cx="6589849" cy="3555944"/>
          </a:xfrm>
          <a:custGeom>
            <a:avLst/>
            <a:gdLst/>
            <a:ahLst/>
            <a:cxnLst/>
            <a:rect l="l" t="t" r="r" b="b"/>
            <a:pathLst>
              <a:path w="6589849" h="3555944">
                <a:moveTo>
                  <a:pt x="0" y="0"/>
                </a:moveTo>
                <a:lnTo>
                  <a:pt x="6589849" y="0"/>
                </a:lnTo>
                <a:lnTo>
                  <a:pt x="6589849" y="3555945"/>
                </a:lnTo>
                <a:lnTo>
                  <a:pt x="0" y="355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96" t="-11204" r="-25970" b="-162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74899" y="918976"/>
            <a:ext cx="7119965" cy="3436998"/>
          </a:xfrm>
          <a:custGeom>
            <a:avLst/>
            <a:gdLst/>
            <a:ahLst/>
            <a:cxnLst/>
            <a:rect l="l" t="t" r="r" b="b"/>
            <a:pathLst>
              <a:path w="7119965" h="3436998">
                <a:moveTo>
                  <a:pt x="0" y="0"/>
                </a:moveTo>
                <a:lnTo>
                  <a:pt x="7119965" y="0"/>
                </a:lnTo>
                <a:lnTo>
                  <a:pt x="7119965" y="3436999"/>
                </a:lnTo>
                <a:lnTo>
                  <a:pt x="0" y="3436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7" t="-13388" b="-53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52801" y="27112"/>
            <a:ext cx="7315200" cy="696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BY GENDER | AGE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7688" y="7614428"/>
            <a:ext cx="4581448" cy="1378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1967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Overall, the</a:t>
            </a:r>
            <a:r>
              <a:rPr lang="en-US" sz="1967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male gender </a:t>
            </a:r>
            <a:r>
              <a:rPr lang="en-US" sz="1967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generated the </a:t>
            </a:r>
            <a:r>
              <a:rPr lang="en-US" sz="1967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most revenue of $33.23M</a:t>
            </a:r>
            <a:r>
              <a:rPr lang="en-US" sz="1967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while </a:t>
            </a:r>
            <a:r>
              <a:rPr lang="en-US" sz="1967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Others</a:t>
            </a:r>
            <a:r>
              <a:rPr lang="en-US" sz="1967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the </a:t>
            </a:r>
            <a:r>
              <a:rPr lang="en-US" sz="1967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least revenue</a:t>
            </a:r>
            <a:r>
              <a:rPr lang="en-US" sz="1967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about $</a:t>
            </a:r>
            <a:r>
              <a:rPr lang="en-US" sz="1967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15.13M.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74899" y="4595021"/>
            <a:ext cx="7119965" cy="109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137"/>
              </a:lnSpc>
              <a:spcBef>
                <a:spcPct val="0"/>
              </a:spcBef>
            </a:pP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78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least generated revenue</a:t>
            </a: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was from the </a:t>
            </a:r>
            <a:r>
              <a:rPr lang="en-US" sz="1978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Young Adult</a:t>
            </a: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which was about </a:t>
            </a:r>
            <a:r>
              <a:rPr lang="en-US" sz="1978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$11.17M</a:t>
            </a: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with majority from the </a:t>
            </a:r>
            <a:r>
              <a:rPr lang="en-US" sz="1978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males</a:t>
            </a: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about </a:t>
            </a:r>
            <a:r>
              <a:rPr lang="en-US" sz="1978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$5.71M</a:t>
            </a:r>
            <a:r>
              <a:rPr lang="en-US" sz="1978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0888" y="4861704"/>
            <a:ext cx="6589849" cy="8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9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most generated revenue</a:t>
            </a: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was from the </a:t>
            </a:r>
            <a:r>
              <a:rPr lang="en-US" sz="19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Elderly age group (60+)</a:t>
            </a: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which was about</a:t>
            </a:r>
            <a:r>
              <a:rPr lang="en-US" sz="19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$22.17M</a:t>
            </a: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with the </a:t>
            </a:r>
            <a:r>
              <a:rPr lang="en-US" sz="19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males</a:t>
            </a: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generating about </a:t>
            </a:r>
            <a:r>
              <a:rPr lang="en-US" sz="197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$11.19M</a:t>
            </a:r>
            <a:r>
              <a:rPr lang="en-US" sz="19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25516" y="5716175"/>
            <a:ext cx="9417699" cy="2980688"/>
          </a:xfrm>
          <a:custGeom>
            <a:avLst/>
            <a:gdLst/>
            <a:ahLst/>
            <a:cxnLst/>
            <a:rect l="l" t="t" r="r" b="b"/>
            <a:pathLst>
              <a:path w="9417699" h="2980688">
                <a:moveTo>
                  <a:pt x="0" y="0"/>
                </a:moveTo>
                <a:lnTo>
                  <a:pt x="9417699" y="0"/>
                </a:lnTo>
                <a:lnTo>
                  <a:pt x="9417699" y="2980688"/>
                </a:lnTo>
                <a:lnTo>
                  <a:pt x="0" y="2980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81" b="-708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99557" y="1467267"/>
            <a:ext cx="9709800" cy="3049734"/>
          </a:xfrm>
          <a:custGeom>
            <a:avLst/>
            <a:gdLst/>
            <a:ahLst/>
            <a:cxnLst/>
            <a:rect l="l" t="t" r="r" b="b"/>
            <a:pathLst>
              <a:path w="9709800" h="3049734">
                <a:moveTo>
                  <a:pt x="0" y="0"/>
                </a:moveTo>
                <a:lnTo>
                  <a:pt x="9709800" y="0"/>
                </a:lnTo>
                <a:lnTo>
                  <a:pt x="9709800" y="3049735"/>
                </a:lnTo>
                <a:lnTo>
                  <a:pt x="0" y="30497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09" t="-9790" b="-97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025033" y="1467267"/>
            <a:ext cx="5366208" cy="3676233"/>
          </a:xfrm>
          <a:custGeom>
            <a:avLst/>
            <a:gdLst/>
            <a:ahLst/>
            <a:cxnLst/>
            <a:rect l="l" t="t" r="r" b="b"/>
            <a:pathLst>
              <a:path w="5366208" h="3676233">
                <a:moveTo>
                  <a:pt x="0" y="0"/>
                </a:moveTo>
                <a:lnTo>
                  <a:pt x="5366208" y="0"/>
                </a:lnTo>
                <a:lnTo>
                  <a:pt x="5366208" y="3676233"/>
                </a:lnTo>
                <a:lnTo>
                  <a:pt x="0" y="3676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46" b="-206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133600" y="226960"/>
            <a:ext cx="11963480" cy="696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44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DISTRIBUTION BY COUNTRY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9557" y="4587621"/>
            <a:ext cx="9543183" cy="73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Canada was the best performing location generating about $31.67M in total revenue and $25.91M in total profit.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06450" y="8830213"/>
            <a:ext cx="9475101" cy="64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4"/>
              </a:lnSpc>
              <a:spcBef>
                <a:spcPct val="0"/>
              </a:spcBef>
            </a:pPr>
            <a:r>
              <a:rPr lang="en-US" sz="222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 least performing location was the USA generating a total revenue of $5.577M and a total profit of $4.58M.</a:t>
            </a:r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61350"/>
            <a:ext cx="6786357" cy="4805696"/>
          </a:xfrm>
          <a:custGeom>
            <a:avLst/>
            <a:gdLst/>
            <a:ahLst/>
            <a:cxnLst/>
            <a:rect l="l" t="t" r="r" b="b"/>
            <a:pathLst>
              <a:path w="6786357" h="4805696">
                <a:moveTo>
                  <a:pt x="0" y="0"/>
                </a:moveTo>
                <a:lnTo>
                  <a:pt x="6786357" y="0"/>
                </a:lnTo>
                <a:lnTo>
                  <a:pt x="6786357" y="4805695"/>
                </a:lnTo>
                <a:lnTo>
                  <a:pt x="0" y="4805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38" t="-16342" r="-56940" b="-432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621246" y="5289539"/>
            <a:ext cx="7237714" cy="4668472"/>
          </a:xfrm>
          <a:custGeom>
            <a:avLst/>
            <a:gdLst/>
            <a:ahLst/>
            <a:cxnLst/>
            <a:rect l="l" t="t" r="r" b="b"/>
            <a:pathLst>
              <a:path w="7237714" h="4668472">
                <a:moveTo>
                  <a:pt x="0" y="0"/>
                </a:moveTo>
                <a:lnTo>
                  <a:pt x="7237714" y="0"/>
                </a:lnTo>
                <a:lnTo>
                  <a:pt x="7237714" y="4668472"/>
                </a:lnTo>
                <a:lnTo>
                  <a:pt x="0" y="4668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795" r="-137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181095" y="276589"/>
            <a:ext cx="14678830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5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REVENUE DISTRIBUTION BY BUYER | CUSTOMER TYPE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917479"/>
            <a:ext cx="7697554" cy="222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Preferred Customers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yielded the </a:t>
            </a: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highest revenue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, about </a:t>
            </a: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$25.65M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while the </a:t>
            </a: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frequent buyers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the </a:t>
            </a: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least revenue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en-US" sz="3113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$21.38M</a:t>
            </a:r>
            <a:r>
              <a:rPr lang="en-US" sz="3113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60170" y="1728235"/>
            <a:ext cx="8798790" cy="1753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9"/>
              </a:lnSpc>
              <a:spcBef>
                <a:spcPct val="0"/>
              </a:spcBef>
            </a:pP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In terms of buyer types, </a:t>
            </a:r>
            <a:r>
              <a:rPr lang="en-US" sz="319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sellers</a:t>
            </a: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generated </a:t>
            </a:r>
            <a:r>
              <a:rPr lang="en-US" sz="319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more revenue</a:t>
            </a: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$</a:t>
            </a:r>
            <a:r>
              <a:rPr lang="en-US" sz="319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62.86M</a:t>
            </a: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319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profit</a:t>
            </a: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lang="en-US" sz="3194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$51.52M</a:t>
            </a:r>
            <a:r>
              <a:rPr lang="en-US" sz="3194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than users over a period of five years.</a:t>
            </a: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3711" y="1830802"/>
            <a:ext cx="17268301" cy="730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20" lvl="1" indent="-340010" algn="l">
              <a:lnSpc>
                <a:spcPts val="3401"/>
              </a:lnSpc>
              <a:spcBef>
                <a:spcPct val="0"/>
              </a:spcBef>
              <a:buAutoNum type="arabicPeriod"/>
            </a:pP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the High-value Customers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Prioritize marketing spend on the Preferred customers, the male gender and the Elderly age group (60+) who generate the most revenue.</a:t>
            </a:r>
          </a:p>
          <a:p>
            <a:pPr marL="680020" lvl="1" indent="-340010" algn="l">
              <a:lnSpc>
                <a:spcPts val="3401"/>
              </a:lnSpc>
              <a:buAutoNum type="arabicPeriod"/>
            </a:pP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 Customer engagement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launch loyalty or rewards programs, exclusive offers, or early access to drugs to the new customers and the Young adult age group (18-29) so as to reinforce loyalty.</a:t>
            </a:r>
          </a:p>
          <a:p>
            <a:pPr marL="680020" lvl="1" indent="-340010" algn="l">
              <a:lnSpc>
                <a:spcPts val="3401"/>
              </a:lnSpc>
              <a:buAutoNum type="arabicPeriod"/>
            </a:pP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 Prioriotize High revenue regions- 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Prioritize marketing and sales efforts in countries like Canada and Australia, where high revenues are generated.</a:t>
            </a:r>
          </a:p>
          <a:p>
            <a:pPr marL="680020" lvl="1" indent="-340010" algn="l">
              <a:lnSpc>
                <a:spcPts val="3401"/>
              </a:lnSpc>
              <a:buAutoNum type="arabicPeriod"/>
            </a:pP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Invest in localized campaigns and promotions for top performing locations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Canada and Australia. This will improve sales of products in these locations.</a:t>
            </a:r>
          </a:p>
          <a:p>
            <a:pPr marL="680020" lvl="1" indent="-340010" algn="l">
              <a:lnSpc>
                <a:spcPts val="3401"/>
              </a:lnSpc>
              <a:buAutoNum type="arabicPeriod"/>
            </a:pP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Evaluate Low performing locations 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Investigate underperforming countries- USA and France, to understand potential barriers (e.g., poor distribution, lack of awareness) and consider pricing adjustments and targeted awareness campaigns.</a:t>
            </a:r>
          </a:p>
          <a:p>
            <a:pPr marL="680020" lvl="1" indent="-340010" algn="l">
              <a:lnSpc>
                <a:spcPts val="3401"/>
              </a:lnSpc>
              <a:buAutoNum type="arabicPeriod"/>
            </a:pP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49" b="1">
                <a:solidFill>
                  <a:srgbClr val="2D2D2D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 trends in sales in the six countries</a:t>
            </a:r>
            <a:r>
              <a:rPr lang="en-US" sz="314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- Track revenue and sales performance by region over time and take action quickly to any emerging declines in the regions.</a:t>
            </a:r>
          </a:p>
        </p:txBody>
      </p:sp>
      <p:sp>
        <p:nvSpPr>
          <p:cNvPr id="3" name="Freeform 3"/>
          <p:cNvSpPr/>
          <p:nvPr/>
        </p:nvSpPr>
        <p:spPr>
          <a:xfrm>
            <a:off x="9296400" y="154306"/>
            <a:ext cx="992525" cy="974479"/>
          </a:xfrm>
          <a:custGeom>
            <a:avLst/>
            <a:gdLst/>
            <a:ahLst/>
            <a:cxnLst/>
            <a:rect l="l" t="t" r="r" b="b"/>
            <a:pathLst>
              <a:path w="992525" h="974479">
                <a:moveTo>
                  <a:pt x="0" y="0"/>
                </a:moveTo>
                <a:lnTo>
                  <a:pt x="992525" y="0"/>
                </a:lnTo>
                <a:lnTo>
                  <a:pt x="992525" y="974479"/>
                </a:lnTo>
                <a:lnTo>
                  <a:pt x="0" y="974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183979" y="236999"/>
            <a:ext cx="6960021" cy="1061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5200" b="1" dirty="0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RECOMMENDATIONS</a:t>
            </a: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1283415" y="2819743"/>
            <a:ext cx="470916" cy="4709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03150" y="800318"/>
            <a:ext cx="16356150" cy="9387715"/>
          </a:xfrm>
          <a:custGeom>
            <a:avLst/>
            <a:gdLst/>
            <a:ahLst/>
            <a:cxnLst/>
            <a:rect l="l" t="t" r="r" b="b"/>
            <a:pathLst>
              <a:path w="16356150" h="9387715">
                <a:moveTo>
                  <a:pt x="0" y="0"/>
                </a:moveTo>
                <a:lnTo>
                  <a:pt x="16356150" y="0"/>
                </a:lnTo>
                <a:lnTo>
                  <a:pt x="16356150" y="9387716"/>
                </a:lnTo>
                <a:lnTo>
                  <a:pt x="0" y="9387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34" t="-14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837665" y="196433"/>
            <a:ext cx="1002830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TOP | BOTTOM ANALYSIS DASHBOARD</a:t>
            </a:r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1283415" y="2819743"/>
            <a:ext cx="470916" cy="47091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64309" y="800318"/>
            <a:ext cx="15759382" cy="9337309"/>
          </a:xfrm>
          <a:custGeom>
            <a:avLst/>
            <a:gdLst/>
            <a:ahLst/>
            <a:cxnLst/>
            <a:rect l="l" t="t" r="r" b="b"/>
            <a:pathLst>
              <a:path w="15759382" h="9337309">
                <a:moveTo>
                  <a:pt x="0" y="0"/>
                </a:moveTo>
                <a:lnTo>
                  <a:pt x="15759382" y="0"/>
                </a:lnTo>
                <a:lnTo>
                  <a:pt x="15759382" y="9337310"/>
                </a:lnTo>
                <a:lnTo>
                  <a:pt x="0" y="933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21" r="-15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837665" y="196433"/>
            <a:ext cx="10028303" cy="60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CUSTOMER ANALYSIS DASHBOARD</a:t>
            </a:r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ABACA">
                <a:alpha val="100000"/>
              </a:srgbClr>
            </a:gs>
            <a:gs pos="100000">
              <a:srgbClr val="FFFFFF">
                <a:alpha val="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0570" y="2217184"/>
            <a:ext cx="10028303" cy="2394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1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 for your Attention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587135" y="62376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83415" y="2819743"/>
            <a:ext cx="470916" cy="47091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93972" y="4055730"/>
            <a:ext cx="6579882" cy="5881224"/>
            <a:chOff x="0" y="0"/>
            <a:chExt cx="17270277" cy="1727027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38"/>
                  </a:lnSpc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1373</Words>
  <Application>Microsoft Office PowerPoint</Application>
  <PresentationFormat>Custom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Poppins</vt:lpstr>
      <vt:lpstr>Poppins Bold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NOVAMED SOLUTIONS</dc:title>
  <cp:lastModifiedBy>Opeyemi Olaniran</cp:lastModifiedBy>
  <cp:revision>9</cp:revision>
  <dcterms:created xsi:type="dcterms:W3CDTF">2006-08-16T00:00:00Z</dcterms:created>
  <dcterms:modified xsi:type="dcterms:W3CDTF">2025-05-17T23:00:52Z</dcterms:modified>
  <dc:identifier>DAGntecV4lw</dc:identifier>
</cp:coreProperties>
</file>